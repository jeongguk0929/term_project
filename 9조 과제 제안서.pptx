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5143500" cx="9144000"/>
  <p:notesSz cx="6858000" cy="9144000"/>
  <p:embeddedFontLst>
    <p:embeddedFont>
      <p:font typeface="Raleway"/>
      <p:regular r:id="rId16"/>
      <p:bold r:id="rId17"/>
      <p:italic r:id="rId18"/>
      <p:boldItalic r:id="rId19"/>
    </p:embeddedFont>
    <p:embeddedFont>
      <p:font typeface="Lato"/>
      <p:regular r:id="rId20"/>
      <p:bold r:id="rId21"/>
      <p:italic r:id="rId22"/>
      <p:boldItalic r:id="rId2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Lato-regular.fntdata"/><Relationship Id="rId11" Type="http://schemas.openxmlformats.org/officeDocument/2006/relationships/slide" Target="slides/slide6.xml"/><Relationship Id="rId22" Type="http://schemas.openxmlformats.org/officeDocument/2006/relationships/font" Target="fonts/Lato-italic.fntdata"/><Relationship Id="rId10" Type="http://schemas.openxmlformats.org/officeDocument/2006/relationships/slide" Target="slides/slide5.xml"/><Relationship Id="rId21" Type="http://schemas.openxmlformats.org/officeDocument/2006/relationships/font" Target="fonts/Lato-bold.fntdata"/><Relationship Id="rId13" Type="http://schemas.openxmlformats.org/officeDocument/2006/relationships/slide" Target="slides/slide8.xml"/><Relationship Id="rId12" Type="http://schemas.openxmlformats.org/officeDocument/2006/relationships/slide" Target="slides/slide7.xml"/><Relationship Id="rId23" Type="http://schemas.openxmlformats.org/officeDocument/2006/relationships/font" Target="fonts/Lato-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Raleway-bold.fntdata"/><Relationship Id="rId16" Type="http://schemas.openxmlformats.org/officeDocument/2006/relationships/font" Target="fonts/Raleway-regular.fntdata"/><Relationship Id="rId5" Type="http://schemas.openxmlformats.org/officeDocument/2006/relationships/notesMaster" Target="notesMasters/notesMaster1.xml"/><Relationship Id="rId19" Type="http://schemas.openxmlformats.org/officeDocument/2006/relationships/font" Target="fonts/Raleway-boldItalic.fntdata"/><Relationship Id="rId6" Type="http://schemas.openxmlformats.org/officeDocument/2006/relationships/slide" Target="slides/slide1.xml"/><Relationship Id="rId18" Type="http://schemas.openxmlformats.org/officeDocument/2006/relationships/font" Target="fonts/Raleway-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431ba6cf675b67dc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431ba6cf675b67dc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dcc8f8eb6d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3dcc8f8eb6d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dcc8f8eb6d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dcc8f8eb6d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dcc8f8eb6d_0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dcc8f8eb6d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dcc8f8eb6d_0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3dcc8f8eb6d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dcc8f8eb6d_0_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3dcc8f8eb6d_0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431ba6cf675b67dc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431ba6cf675b67dc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dcc8f8eb6d_0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3dcc8f8eb6d_0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431ba6cf675b67dc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431ba6cf675b67dc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5" name="Google Shape;15;p2"/>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p4"/>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29" name="Google Shape;29;p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5"/>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37" name="Google Shape;37;p5"/>
          <p:cNvSpPr txBox="1"/>
          <p:nvPr>
            <p:ph idx="1" type="body"/>
          </p:nvPr>
        </p:nvSpPr>
        <p:spPr>
          <a:xfrm>
            <a:off x="729325"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8" name="Google Shape;38;p5"/>
          <p:cNvSpPr txBox="1"/>
          <p:nvPr>
            <p:ph idx="2" type="body"/>
          </p:nvPr>
        </p:nvSpPr>
        <p:spPr>
          <a:xfrm>
            <a:off x="4643604"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9" name="Google Shape;39;p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6"/>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46" name="Google Shape;46;p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7"/>
          <p:cNvSpPr txBox="1"/>
          <p:nvPr>
            <p:ph type="title"/>
          </p:nvPr>
        </p:nvSpPr>
        <p:spPr>
          <a:xfrm>
            <a:off x="730000" y="1318650"/>
            <a:ext cx="3300900" cy="13815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53" name="Google Shape;53;p7"/>
          <p:cNvSpPr txBox="1"/>
          <p:nvPr>
            <p:ph idx="1" type="body"/>
          </p:nvPr>
        </p:nvSpPr>
        <p:spPr>
          <a:xfrm>
            <a:off x="721225" y="2781725"/>
            <a:ext cx="3300900" cy="159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8"/>
          <p:cNvSpPr txBox="1"/>
          <p:nvPr>
            <p:ph type="title"/>
          </p:nvPr>
        </p:nvSpPr>
        <p:spPr>
          <a:xfrm>
            <a:off x="729450" y="864300"/>
            <a:ext cx="7021200" cy="29850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9"/>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67" name="Google Shape;67;p9"/>
          <p:cNvSpPr txBox="1"/>
          <p:nvPr>
            <p:ph idx="1" type="subTitle"/>
          </p:nvPr>
        </p:nvSpPr>
        <p:spPr>
          <a:xfrm>
            <a:off x="724950" y="3161525"/>
            <a:ext cx="3300900" cy="759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Google Shape;68;p9"/>
          <p:cNvSpPr txBox="1"/>
          <p:nvPr>
            <p:ph idx="2" type="body"/>
          </p:nvPr>
        </p:nvSpPr>
        <p:spPr>
          <a:xfrm>
            <a:off x="5174225" y="1352625"/>
            <a:ext cx="3374400" cy="302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9" name="Google Shape;69;p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724950" y="4372551"/>
            <a:ext cx="7697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72" name="Google Shape;72;p1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idx="1" type="body"/>
          </p:nvPr>
        </p:nvSpPr>
        <p:spPr>
          <a:xfrm>
            <a:off x="729450" y="2272888"/>
            <a:ext cx="7688400" cy="1580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79" name="Google Shape;79;p1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1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ko"/>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2.jpg"/><Relationship Id="rId4" Type="http://schemas.openxmlformats.org/officeDocument/2006/relationships/image" Target="../media/image1.jpg"/><Relationship Id="rId5" Type="http://schemas.openxmlformats.org/officeDocument/2006/relationships/image" Target="../media/image4.jpg"/><Relationship Id="rId6" Type="http://schemas.openxmlformats.org/officeDocument/2006/relationships/image" Target="../media/image3.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3"/>
          <p:cNvSpPr txBox="1"/>
          <p:nvPr>
            <p:ph type="ctrTitle"/>
          </p:nvPr>
        </p:nvSpPr>
        <p:spPr>
          <a:xfrm>
            <a:off x="727950" y="1322450"/>
            <a:ext cx="7688100" cy="166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ko" sz="3480"/>
              <a:t>스팀(Steam) 리뷰 및 플레이어 </a:t>
            </a:r>
            <a:endParaRPr sz="3480"/>
          </a:p>
          <a:p>
            <a:pPr indent="0" lvl="0" marL="0" rtl="0" algn="l">
              <a:spcBef>
                <a:spcPts val="0"/>
              </a:spcBef>
              <a:spcAft>
                <a:spcPts val="0"/>
              </a:spcAft>
              <a:buSzPts val="990"/>
              <a:buNone/>
            </a:pPr>
            <a:r>
              <a:rPr lang="ko" sz="3480"/>
              <a:t>데이터를 통한 오픈월드 RPG/FPS </a:t>
            </a:r>
            <a:endParaRPr sz="3480"/>
          </a:p>
          <a:p>
            <a:pPr indent="0" lvl="0" marL="0" rtl="0" algn="l">
              <a:spcBef>
                <a:spcPts val="0"/>
              </a:spcBef>
              <a:spcAft>
                <a:spcPts val="0"/>
              </a:spcAft>
              <a:buSzPts val="990"/>
              <a:buNone/>
            </a:pPr>
            <a:r>
              <a:rPr lang="ko" sz="3480"/>
              <a:t>게임의 흥행 요인 분석</a:t>
            </a:r>
            <a:endParaRPr sz="3480"/>
          </a:p>
        </p:txBody>
      </p:sp>
      <p:sp>
        <p:nvSpPr>
          <p:cNvPr id="87" name="Google Shape;87;p13"/>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ko"/>
              <a:t>조원: </a:t>
            </a:r>
            <a:r>
              <a:rPr lang="ko"/>
              <a:t>김정국</a:t>
            </a:r>
            <a:r>
              <a:rPr lang="ko"/>
              <a:t>, </a:t>
            </a:r>
            <a:r>
              <a:rPr lang="ko"/>
              <a:t>김재형</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4"/>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ko"/>
              <a:t>목차</a:t>
            </a:r>
            <a:endParaRPr/>
          </a:p>
        </p:txBody>
      </p:sp>
      <p:sp>
        <p:nvSpPr>
          <p:cNvPr id="93" name="Google Shape;93;p14"/>
          <p:cNvSpPr txBox="1"/>
          <p:nvPr>
            <p:ph idx="1" type="body"/>
          </p:nvPr>
        </p:nvSpPr>
        <p:spPr>
          <a:xfrm>
            <a:off x="616728" y="1853853"/>
            <a:ext cx="7688700" cy="22611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SzPts val="1600"/>
              <a:buAutoNum type="arabicPeriod"/>
            </a:pPr>
            <a:r>
              <a:rPr lang="ko" sz="1600"/>
              <a:t>과제 유형 및 목표</a:t>
            </a:r>
            <a:endParaRPr sz="1600"/>
          </a:p>
          <a:p>
            <a:pPr indent="-330200" lvl="0" marL="457200" rtl="0" algn="l">
              <a:spcBef>
                <a:spcPts val="0"/>
              </a:spcBef>
              <a:spcAft>
                <a:spcPts val="0"/>
              </a:spcAft>
              <a:buSzPts val="1600"/>
              <a:buAutoNum type="arabicPeriod"/>
            </a:pPr>
            <a:r>
              <a:rPr lang="ko" sz="1600"/>
              <a:t>팀 구성 및 역할 분담</a:t>
            </a:r>
            <a:endParaRPr sz="1600"/>
          </a:p>
          <a:p>
            <a:pPr indent="-330200" lvl="0" marL="457200" rtl="0" algn="l">
              <a:spcBef>
                <a:spcPts val="0"/>
              </a:spcBef>
              <a:spcAft>
                <a:spcPts val="0"/>
              </a:spcAft>
              <a:buSzPts val="1600"/>
              <a:buAutoNum type="arabicPeriod"/>
            </a:pPr>
            <a:r>
              <a:rPr lang="ko" sz="1600"/>
              <a:t>배경 및 선정 이유</a:t>
            </a:r>
            <a:endParaRPr sz="1600"/>
          </a:p>
          <a:p>
            <a:pPr indent="-330200" lvl="0" marL="457200" rtl="0" algn="l">
              <a:spcBef>
                <a:spcPts val="0"/>
              </a:spcBef>
              <a:spcAft>
                <a:spcPts val="0"/>
              </a:spcAft>
              <a:buSzPts val="1600"/>
              <a:buAutoNum type="arabicPeriod"/>
            </a:pPr>
            <a:r>
              <a:rPr lang="ko" sz="1600"/>
              <a:t>사용할 데이터 셋</a:t>
            </a:r>
            <a:endParaRPr sz="1600"/>
          </a:p>
          <a:p>
            <a:pPr indent="-330200" lvl="0" marL="457200" rtl="0" algn="l">
              <a:spcBef>
                <a:spcPts val="0"/>
              </a:spcBef>
              <a:spcAft>
                <a:spcPts val="0"/>
              </a:spcAft>
              <a:buSzPts val="1600"/>
              <a:buAutoNum type="arabicPeriod"/>
            </a:pPr>
            <a:r>
              <a:rPr lang="ko" sz="1600"/>
              <a:t>수행 계획</a:t>
            </a:r>
            <a:endParaRPr sz="1600"/>
          </a:p>
          <a:p>
            <a:pPr indent="-330200" lvl="0" marL="457200" rtl="0" algn="l">
              <a:spcBef>
                <a:spcPts val="0"/>
              </a:spcBef>
              <a:spcAft>
                <a:spcPts val="0"/>
              </a:spcAft>
              <a:buSzPts val="1600"/>
              <a:buAutoNum type="arabicPeriod"/>
            </a:pPr>
            <a:r>
              <a:rPr lang="ko" sz="1600"/>
              <a:t>예상 인사이트 및 기대효과</a:t>
            </a:r>
            <a:endParaRPr sz="16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ko"/>
              <a:t>과제 유형 및 목표</a:t>
            </a:r>
            <a:endParaRPr/>
          </a:p>
        </p:txBody>
      </p:sp>
      <p:sp>
        <p:nvSpPr>
          <p:cNvPr id="99" name="Google Shape;99;p15"/>
          <p:cNvSpPr txBox="1"/>
          <p:nvPr>
            <p:ph idx="1" type="body"/>
          </p:nvPr>
        </p:nvSpPr>
        <p:spPr>
          <a:xfrm>
            <a:off x="729450" y="2078875"/>
            <a:ext cx="7688700" cy="2718600"/>
          </a:xfrm>
          <a:prstGeom prst="rect">
            <a:avLst/>
          </a:prstGeom>
        </p:spPr>
        <p:txBody>
          <a:bodyPr anchorCtr="0" anchor="t" bIns="91425" lIns="91425" spcFirstLastPara="1" rIns="91425" wrap="square" tIns="91425">
            <a:noAutofit/>
          </a:bodyPr>
          <a:lstStyle/>
          <a:p>
            <a:pPr indent="-317500" lvl="0" marL="457200" rtl="0" algn="l">
              <a:lnSpc>
                <a:spcPct val="95000"/>
              </a:lnSpc>
              <a:spcBef>
                <a:spcPts val="0"/>
              </a:spcBef>
              <a:spcAft>
                <a:spcPts val="0"/>
              </a:spcAft>
              <a:buSzPts val="1400"/>
              <a:buChar char="●"/>
            </a:pPr>
            <a:r>
              <a:rPr lang="ko" sz="1400"/>
              <a:t>과제 유형: 소비 및 관광 분석 (디지털 컨텐츠 소비 분야로 확장 적용)</a:t>
            </a:r>
            <a:endParaRPr sz="1400"/>
          </a:p>
          <a:p>
            <a:pPr indent="0" lvl="0" marL="0" rtl="0" algn="l">
              <a:lnSpc>
                <a:spcPct val="95000"/>
              </a:lnSpc>
              <a:spcBef>
                <a:spcPts val="1200"/>
              </a:spcBef>
              <a:spcAft>
                <a:spcPts val="0"/>
              </a:spcAft>
              <a:buNone/>
            </a:pPr>
            <a:r>
              <a:t/>
            </a:r>
            <a:endParaRPr sz="1400"/>
          </a:p>
          <a:p>
            <a:pPr indent="-317500" lvl="0" marL="457200" rtl="0" algn="l">
              <a:lnSpc>
                <a:spcPct val="95000"/>
              </a:lnSpc>
              <a:spcBef>
                <a:spcPts val="1200"/>
              </a:spcBef>
              <a:spcAft>
                <a:spcPts val="0"/>
              </a:spcAft>
              <a:buSzPts val="1400"/>
              <a:buChar char="●"/>
            </a:pPr>
            <a:r>
              <a:rPr lang="ko" sz="1400"/>
              <a:t>문제 정의: 게임 유저들의 텍스트 리뷰와 동시 접속자 수 데이터를 분석하여, 유저 만족도 및 재플레이율에 영향을 미치는 주요 요인 도출</a:t>
            </a:r>
            <a:endParaRPr sz="1400"/>
          </a:p>
          <a:p>
            <a:pPr indent="0" lvl="0" marL="0" rtl="0" algn="l">
              <a:lnSpc>
                <a:spcPct val="95000"/>
              </a:lnSpc>
              <a:spcBef>
                <a:spcPts val="1200"/>
              </a:spcBef>
              <a:spcAft>
                <a:spcPts val="0"/>
              </a:spcAft>
              <a:buNone/>
            </a:pPr>
            <a:r>
              <a:t/>
            </a:r>
            <a:endParaRPr sz="1400"/>
          </a:p>
          <a:p>
            <a:pPr indent="-317500" lvl="0" marL="457200" rtl="0" algn="l">
              <a:lnSpc>
                <a:spcPct val="95000"/>
              </a:lnSpc>
              <a:spcBef>
                <a:spcPts val="1200"/>
              </a:spcBef>
              <a:spcAft>
                <a:spcPts val="0"/>
              </a:spcAft>
              <a:buSzPts val="1400"/>
              <a:buChar char="●"/>
            </a:pPr>
            <a:r>
              <a:rPr lang="ko" sz="1400"/>
              <a:t>주요 분석 질문:</a:t>
            </a:r>
            <a:endParaRPr sz="1400"/>
          </a:p>
          <a:p>
            <a:pPr indent="-317500" lvl="0" marL="457200" rtl="0" algn="l">
              <a:lnSpc>
                <a:spcPct val="95000"/>
              </a:lnSpc>
              <a:spcBef>
                <a:spcPts val="0"/>
              </a:spcBef>
              <a:spcAft>
                <a:spcPts val="0"/>
              </a:spcAft>
              <a:buSzPts val="1400"/>
              <a:buChar char="-"/>
            </a:pPr>
            <a:r>
              <a:rPr lang="ko" sz="1400"/>
              <a:t>스토리 깊이, 뛰어난 그래픽, 혹은 신화적 배경과 같은 긍정적 키워드가 오픈월드 RPG의 장기 흥행에 미치는 영향력은 어느 정도인가?</a:t>
            </a:r>
            <a:endParaRPr sz="1400"/>
          </a:p>
          <a:p>
            <a:pPr indent="-317500" lvl="0" marL="457200" rtl="0" algn="l">
              <a:lnSpc>
                <a:spcPct val="95000"/>
              </a:lnSpc>
              <a:spcBef>
                <a:spcPts val="0"/>
              </a:spcBef>
              <a:spcAft>
                <a:spcPts val="0"/>
              </a:spcAft>
              <a:buSzPts val="1400"/>
              <a:buChar char="-"/>
            </a:pPr>
            <a:r>
              <a:rPr lang="ko" sz="1400"/>
              <a:t>경쟁형 FPS 게임에서 인게임 상점 시스템 및 최적화에 대한 유저 피드백이 평균 플레이 타임에 미치는 상관관계는 무엇 인가?</a:t>
            </a:r>
            <a:endParaRPr sz="14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6"/>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ko"/>
              <a:t>팀 구성 및 역할 분담</a:t>
            </a:r>
            <a:endParaRPr/>
          </a:p>
        </p:txBody>
      </p:sp>
      <p:sp>
        <p:nvSpPr>
          <p:cNvPr id="105" name="Google Shape;105;p16"/>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7500" lvl="0" marL="457200" rtl="0" algn="l">
              <a:spcBef>
                <a:spcPts val="0"/>
              </a:spcBef>
              <a:spcAft>
                <a:spcPts val="0"/>
              </a:spcAft>
              <a:buSzPts val="1400"/>
              <a:buChar char="●"/>
            </a:pPr>
            <a:r>
              <a:rPr lang="ko" sz="1400"/>
              <a:t>김정국: pandas를 활용한 기본 전처리 수행, </a:t>
            </a:r>
            <a:r>
              <a:rPr lang="ko" sz="1400"/>
              <a:t>Steam Web API 연동 및 웹 스크래핑을 통한 리뷰 데이터 수집</a:t>
            </a:r>
            <a:endParaRPr sz="1400"/>
          </a:p>
          <a:p>
            <a:pPr indent="0" lvl="0" marL="0" rtl="0" algn="l">
              <a:spcBef>
                <a:spcPts val="1200"/>
              </a:spcBef>
              <a:spcAft>
                <a:spcPts val="0"/>
              </a:spcAft>
              <a:buNone/>
            </a:pPr>
            <a:r>
              <a:t/>
            </a:r>
            <a:endParaRPr sz="1400"/>
          </a:p>
          <a:p>
            <a:pPr indent="-317500" lvl="0" marL="457200" rtl="0" algn="l">
              <a:spcBef>
                <a:spcPts val="1200"/>
              </a:spcBef>
              <a:spcAft>
                <a:spcPts val="0"/>
              </a:spcAft>
              <a:buSzPts val="1400"/>
              <a:buChar char="●"/>
            </a:pPr>
            <a:r>
              <a:rPr lang="ko" sz="1400"/>
              <a:t>김재형:  EDA 과정에서의 데이터 시각화 및 최종 결과 해석, 인사이트 도출</a:t>
            </a:r>
            <a:endParaRPr sz="14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7"/>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ko"/>
              <a:t>배경 및 선정 이유</a:t>
            </a:r>
            <a:endParaRPr/>
          </a:p>
        </p:txBody>
      </p:sp>
      <p:sp>
        <p:nvSpPr>
          <p:cNvPr id="111" name="Google Shape;111;p17"/>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ko" sz="1400"/>
              <a:t>포화된 게임 시장에서 성공은 출시 초기 화제성뿐 아니라 장기적인 유저 플레이를 이끄는 데 달려 있습니다. 'GTA5', '위쳐 3', '엘든링' 같은 오픈월드 RPG나 '배틀그라운드', '오버워치' 같은 FPS 게임의 장기 흥행은 유저의 소비 성향과 지속적인 피드백 덕분입니다. 본 연구는 유저 만족도 핵심 요인을 파악하기 위해 스팀 리뷰 텍스트, 동시 접속자 수, 평균 플레이타임 데이터를 결합하여 분석합니다. 리뷰 키워드(스토리, 최적화, 업데이트, 과금 모델 등)와 재방문율의 상관관계를 분석하여, 대중적인 게임의 장기 흥행을 결정짓는 요소를 정량적으로 도출하고자 본 주제를 선정했습니다.</a:t>
            </a:r>
            <a:endParaRPr/>
          </a:p>
        </p:txBody>
      </p:sp>
      <p:pic>
        <p:nvPicPr>
          <p:cNvPr id="112" name="Google Shape;112;p17"/>
          <p:cNvPicPr preferRelativeResize="0"/>
          <p:nvPr/>
        </p:nvPicPr>
        <p:blipFill>
          <a:blip r:embed="rId3">
            <a:alphaModFix/>
          </a:blip>
          <a:stretch>
            <a:fillRect/>
          </a:stretch>
        </p:blipFill>
        <p:spPr>
          <a:xfrm>
            <a:off x="4853813" y="3719825"/>
            <a:ext cx="1376050" cy="1376050"/>
          </a:xfrm>
          <a:prstGeom prst="rect">
            <a:avLst/>
          </a:prstGeom>
          <a:noFill/>
          <a:ln>
            <a:noFill/>
          </a:ln>
        </p:spPr>
      </p:pic>
      <p:pic>
        <p:nvPicPr>
          <p:cNvPr id="113" name="Google Shape;113;p17"/>
          <p:cNvPicPr preferRelativeResize="0"/>
          <p:nvPr/>
        </p:nvPicPr>
        <p:blipFill>
          <a:blip r:embed="rId4">
            <a:alphaModFix/>
          </a:blip>
          <a:stretch>
            <a:fillRect/>
          </a:stretch>
        </p:blipFill>
        <p:spPr>
          <a:xfrm>
            <a:off x="729454" y="3719825"/>
            <a:ext cx="1111225" cy="1376050"/>
          </a:xfrm>
          <a:prstGeom prst="rect">
            <a:avLst/>
          </a:prstGeom>
          <a:noFill/>
          <a:ln>
            <a:noFill/>
          </a:ln>
        </p:spPr>
      </p:pic>
      <p:pic>
        <p:nvPicPr>
          <p:cNvPr id="114" name="Google Shape;114;p17"/>
          <p:cNvPicPr preferRelativeResize="0"/>
          <p:nvPr/>
        </p:nvPicPr>
        <p:blipFill>
          <a:blip r:embed="rId5">
            <a:alphaModFix/>
          </a:blip>
          <a:stretch>
            <a:fillRect/>
          </a:stretch>
        </p:blipFill>
        <p:spPr>
          <a:xfrm>
            <a:off x="6511665" y="3719825"/>
            <a:ext cx="2061057" cy="1376050"/>
          </a:xfrm>
          <a:prstGeom prst="rect">
            <a:avLst/>
          </a:prstGeom>
          <a:noFill/>
          <a:ln>
            <a:noFill/>
          </a:ln>
        </p:spPr>
      </p:pic>
      <p:pic>
        <p:nvPicPr>
          <p:cNvPr id="115" name="Google Shape;115;p17"/>
          <p:cNvPicPr preferRelativeResize="0"/>
          <p:nvPr/>
        </p:nvPicPr>
        <p:blipFill>
          <a:blip r:embed="rId6">
            <a:alphaModFix/>
          </a:blip>
          <a:stretch>
            <a:fillRect/>
          </a:stretch>
        </p:blipFill>
        <p:spPr>
          <a:xfrm>
            <a:off x="2122512" y="3719826"/>
            <a:ext cx="2449482" cy="13760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18"/>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ko"/>
              <a:t>사용할 데이터 셋 </a:t>
            </a:r>
            <a:endParaRPr/>
          </a:p>
        </p:txBody>
      </p:sp>
      <p:sp>
        <p:nvSpPr>
          <p:cNvPr id="121" name="Google Shape;121;p18"/>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7500" lvl="0" marL="457200" rtl="0" algn="l">
              <a:lnSpc>
                <a:spcPct val="105000"/>
              </a:lnSpc>
              <a:spcBef>
                <a:spcPts val="0"/>
              </a:spcBef>
              <a:spcAft>
                <a:spcPts val="0"/>
              </a:spcAft>
              <a:buSzPts val="1400"/>
              <a:buChar char="●"/>
            </a:pPr>
            <a:r>
              <a:rPr lang="ko" sz="1400"/>
              <a:t>데이터 출처: 캐글 데이터셋(Steam Store Games &amp; Reviews), 기관별 오픈 API 연동(Steam Web API), 필요시 리뷰 사이트 웹 스크래핑</a:t>
            </a:r>
            <a:endParaRPr sz="1400"/>
          </a:p>
          <a:p>
            <a:pPr indent="0" lvl="0" marL="0" rtl="0" algn="l">
              <a:lnSpc>
                <a:spcPct val="105000"/>
              </a:lnSpc>
              <a:spcBef>
                <a:spcPts val="1200"/>
              </a:spcBef>
              <a:spcAft>
                <a:spcPts val="0"/>
              </a:spcAft>
              <a:buNone/>
            </a:pPr>
            <a:r>
              <a:t/>
            </a:r>
            <a:endParaRPr sz="1400"/>
          </a:p>
          <a:p>
            <a:pPr indent="-317500" lvl="0" marL="457200" rtl="0" algn="l">
              <a:lnSpc>
                <a:spcPct val="105000"/>
              </a:lnSpc>
              <a:spcBef>
                <a:spcPts val="1200"/>
              </a:spcBef>
              <a:spcAft>
                <a:spcPts val="0"/>
              </a:spcAft>
              <a:buSzPts val="1400"/>
              <a:buChar char="●"/>
            </a:pPr>
            <a:r>
              <a:rPr lang="ko" sz="1400"/>
              <a:t>주요 변수: 게임 장르(RPG, FPS 등), 메타스코어, 유저 리뷰 텍스트, 긍정/부정 평가 비율, 일일 최고 동시 접속자 수, 평균 플레이타임</a:t>
            </a:r>
            <a:endParaRPr sz="1400"/>
          </a:p>
          <a:p>
            <a:pPr indent="0" lvl="0" marL="0" rtl="0" algn="l">
              <a:lnSpc>
                <a:spcPct val="105000"/>
              </a:lnSpc>
              <a:spcBef>
                <a:spcPts val="1200"/>
              </a:spcBef>
              <a:spcAft>
                <a:spcPts val="0"/>
              </a:spcAft>
              <a:buNone/>
            </a:pPr>
            <a:r>
              <a:t/>
            </a:r>
            <a:endParaRPr sz="1400"/>
          </a:p>
          <a:p>
            <a:pPr indent="-317500" lvl="0" marL="457200" rtl="0" algn="l">
              <a:lnSpc>
                <a:spcPct val="105000"/>
              </a:lnSpc>
              <a:spcBef>
                <a:spcPts val="1200"/>
              </a:spcBef>
              <a:spcAft>
                <a:spcPts val="0"/>
              </a:spcAft>
              <a:buSzPts val="1400"/>
              <a:buChar char="●"/>
            </a:pPr>
            <a:r>
              <a:rPr lang="ko" sz="1400"/>
              <a:t>예상 데이터 특성: 리뷰 텍스트는 비정형 텍스트 데이터, 동시 접속자 수 등은 시계열 형태의 수치형 데이터</a:t>
            </a:r>
            <a:endParaRPr sz="14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19"/>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ko"/>
              <a:t>수행 계획</a:t>
            </a:r>
            <a:endParaRPr/>
          </a:p>
        </p:txBody>
      </p:sp>
      <p:sp>
        <p:nvSpPr>
          <p:cNvPr id="127" name="Google Shape;127;p19"/>
          <p:cNvSpPr txBox="1"/>
          <p:nvPr>
            <p:ph idx="1" type="body"/>
          </p:nvPr>
        </p:nvSpPr>
        <p:spPr>
          <a:xfrm>
            <a:off x="729450" y="2078875"/>
            <a:ext cx="7688700" cy="2051700"/>
          </a:xfrm>
          <a:prstGeom prst="rect">
            <a:avLst/>
          </a:prstGeom>
        </p:spPr>
        <p:txBody>
          <a:bodyPr anchorCtr="0" anchor="t" bIns="91425" lIns="91425" spcFirstLastPara="1" rIns="91425" wrap="square" tIns="91425">
            <a:noAutofit/>
          </a:bodyPr>
          <a:lstStyle/>
          <a:p>
            <a:pPr indent="-317818" lvl="0" marL="457200" rtl="0" algn="l">
              <a:lnSpc>
                <a:spcPct val="105000"/>
              </a:lnSpc>
              <a:spcBef>
                <a:spcPts val="0"/>
              </a:spcBef>
              <a:spcAft>
                <a:spcPts val="0"/>
              </a:spcAft>
              <a:buSzPts val="1405"/>
              <a:buChar char="●"/>
            </a:pPr>
            <a:r>
              <a:rPr lang="ko" sz="1405"/>
              <a:t>데이터 수집 및 전처리: Steam Web API 및 웹 스크래핑을 통해 대상 게임의 텍스트 리뷰와 동시 접속자 수 데이터를 확보합니다. 수집된 데이터는 결측치 및 이상치 제거 등의 기본 전처리를 수행하고, 비정형 텍스트 데이터의 경우 자연어 처리(토큰화, 불용어 제거 등)를 적용하여 분석에 적합한 형태로 정제합니다. </a:t>
            </a:r>
            <a:endParaRPr sz="1405"/>
          </a:p>
          <a:p>
            <a:pPr indent="0" lvl="0" marL="0" rtl="0" algn="l">
              <a:lnSpc>
                <a:spcPct val="105000"/>
              </a:lnSpc>
              <a:spcBef>
                <a:spcPts val="1200"/>
              </a:spcBef>
              <a:spcAft>
                <a:spcPts val="0"/>
              </a:spcAft>
              <a:buNone/>
            </a:pPr>
            <a:r>
              <a:t/>
            </a:r>
            <a:endParaRPr sz="1405"/>
          </a:p>
          <a:p>
            <a:pPr indent="-317818" lvl="0" marL="457200" rtl="0" algn="l">
              <a:lnSpc>
                <a:spcPct val="105000"/>
              </a:lnSpc>
              <a:spcBef>
                <a:spcPts val="1200"/>
              </a:spcBef>
              <a:spcAft>
                <a:spcPts val="0"/>
              </a:spcAft>
              <a:buSzPts val="1405"/>
              <a:buChar char="●"/>
            </a:pPr>
            <a:r>
              <a:rPr lang="ko" sz="1405"/>
              <a:t>탐색적 데이터 분석(EDA): 데이터 유형, 구조 및 통계적 특성을 파악합니다. 워드클라우드를 통해 빈출 평가 키워드를 시각화하는 것은 물론, 특정 리뷰 키워드와 실제 동시 접속자 수 하락 간의 상관관계를 확인하기 위한 시각화 및 통계 분석을 진행합니다. </a:t>
            </a:r>
            <a:endParaRPr sz="1405"/>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0"/>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ko"/>
              <a:t>수행 계획</a:t>
            </a:r>
            <a:endParaRPr/>
          </a:p>
        </p:txBody>
      </p:sp>
      <p:sp>
        <p:nvSpPr>
          <p:cNvPr id="133" name="Google Shape;133;p20"/>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7818" lvl="0" marL="457200" rtl="0" algn="l">
              <a:lnSpc>
                <a:spcPct val="105000"/>
              </a:lnSpc>
              <a:spcBef>
                <a:spcPts val="0"/>
              </a:spcBef>
              <a:spcAft>
                <a:spcPts val="0"/>
              </a:spcAft>
              <a:buSzPts val="1405"/>
              <a:buChar char="●"/>
            </a:pPr>
            <a:r>
              <a:rPr lang="ko" sz="1405"/>
              <a:t>결과 해석: 도출된 시각화 자료와 통계 분석을 바탕으로 '유저들의 텍스트 불만 요소와 실제 이탈 지표의 일치 여부'에 대한 가설 검증 결과를 정리합니다. 이를 통해 게임의 장기 흥행을 결정짓는 진짜 트리거가 무엇인지에 대한 새롭게 도출된 인사이트를 제시합니다.</a:t>
            </a:r>
            <a:endParaRPr sz="1405"/>
          </a:p>
          <a:p>
            <a:pPr indent="0" lvl="0" marL="0" rtl="0" algn="l">
              <a:lnSpc>
                <a:spcPct val="105000"/>
              </a:lnSpc>
              <a:spcBef>
                <a:spcPts val="1200"/>
              </a:spcBef>
              <a:spcAft>
                <a:spcPts val="0"/>
              </a:spcAft>
              <a:buNone/>
            </a:pPr>
            <a:r>
              <a:t/>
            </a:r>
            <a:endParaRPr sz="1405"/>
          </a:p>
          <a:p>
            <a:pPr indent="-317818" lvl="0" marL="457200" rtl="0" algn="l">
              <a:lnSpc>
                <a:spcPct val="105000"/>
              </a:lnSpc>
              <a:spcBef>
                <a:spcPts val="1200"/>
              </a:spcBef>
              <a:spcAft>
                <a:spcPts val="0"/>
              </a:spcAft>
              <a:buSzPts val="1405"/>
              <a:buChar char="●"/>
            </a:pPr>
            <a:r>
              <a:rPr lang="ko" sz="1405"/>
              <a:t>한계 및 향후 개선 방안: 데이터 수집 과정에서의 한계(예: 크롤링 데이터의 편향성 등)를 짚어보고, 향후 리뷰 텍스트 감성 분석 모델링 도입 등 분석의 깊이를 더하기 위한 개선 방향을 논의합니다.</a:t>
            </a:r>
            <a:endParaRPr sz="1405"/>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1"/>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ko"/>
              <a:t>예상 인사이트 및 기대 효과</a:t>
            </a:r>
            <a:endParaRPr/>
          </a:p>
        </p:txBody>
      </p:sp>
      <p:sp>
        <p:nvSpPr>
          <p:cNvPr id="139" name="Google Shape;139;p21"/>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ko" sz="1400"/>
              <a:t>게임 개발 및 운영 리소스의 효율적 분배 가이드 제공:</a:t>
            </a:r>
            <a:endParaRPr sz="1400"/>
          </a:p>
          <a:p>
            <a:pPr indent="0" lvl="0" marL="0" rtl="0" algn="l">
              <a:spcBef>
                <a:spcPts val="1200"/>
              </a:spcBef>
              <a:spcAft>
                <a:spcPts val="0"/>
              </a:spcAft>
              <a:buNone/>
            </a:pPr>
            <a:r>
              <a:rPr lang="ko" sz="1400"/>
              <a:t>데이터 기반으로 유저의 불만 및 선호 지점을 명확히 구분하여, 게임사는 한정된 예산과 인력을 그래픽 상향, 스토리 보강, 인게임 시스템 개선 중 어디에 투입할지 결정하는 실질적인 데이터 지표 확보 가능.</a:t>
            </a:r>
            <a:endParaRPr sz="1400"/>
          </a:p>
          <a:p>
            <a:pPr indent="0" lvl="0" marL="0" rtl="0" algn="l">
              <a:spcBef>
                <a:spcPts val="1200"/>
              </a:spcBef>
              <a:spcAft>
                <a:spcPts val="0"/>
              </a:spcAft>
              <a:buNone/>
            </a:pPr>
            <a:r>
              <a:t/>
            </a:r>
            <a:endParaRPr sz="1400"/>
          </a:p>
          <a:p>
            <a:pPr indent="-317500" lvl="0" marL="457200" rtl="0" algn="l">
              <a:spcBef>
                <a:spcPts val="1200"/>
              </a:spcBef>
              <a:spcAft>
                <a:spcPts val="0"/>
              </a:spcAft>
              <a:buSzPts val="1400"/>
              <a:buChar char="●"/>
            </a:pPr>
            <a:r>
              <a:rPr lang="ko" sz="1400"/>
              <a:t>예측 모델 및 실시간 모니터링 대시보드로의 확장 가능성:</a:t>
            </a:r>
            <a:endParaRPr sz="1400"/>
          </a:p>
          <a:p>
            <a:pPr indent="0" lvl="0" marL="0" rtl="0" algn="l">
              <a:spcBef>
                <a:spcPts val="1200"/>
              </a:spcBef>
              <a:spcAft>
                <a:spcPts val="1200"/>
              </a:spcAft>
              <a:buNone/>
            </a:pPr>
            <a:r>
              <a:rPr lang="ko" sz="1400"/>
              <a:t>분석 결과를 바탕으로 신규 게임 출시 시 유저 반응을 조기에 예측하는 머신러닝 모델 구축 가능. 나아가, 데이터 시각화를 넘어 PyTorch 등을 활용해 유저 리뷰 감성 자동 분류, 실시간 트렌드를 보여주는 웹 대시보드 형태로 확장할 수 있는 기반 마련.</a:t>
            </a:r>
            <a:endParaRPr sz="14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2"/>
          <p:cNvSpPr txBox="1"/>
          <p:nvPr>
            <p:ph type="title"/>
          </p:nvPr>
        </p:nvSpPr>
        <p:spPr>
          <a:xfrm>
            <a:off x="727800" y="2036550"/>
            <a:ext cx="7688400" cy="535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ko" sz="4900"/>
              <a:t>감사합니다</a:t>
            </a:r>
            <a:endParaRPr sz="4900"/>
          </a:p>
        </p:txBody>
      </p:sp>
    </p:spTree>
  </p:cSld>
  <p:clrMapOvr>
    <a:masterClrMapping/>
  </p:clrMapOvr>
</p:sld>
</file>

<file path=ppt/theme/theme1.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